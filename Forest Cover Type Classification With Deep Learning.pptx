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a740dac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a740dac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a740da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aa740da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aa740dac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aa740dac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a740dac7_1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aa740dac7_1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b9eef7b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b9eef7b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b9eef7b1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b9eef7b1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b9eef7b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b9eef7b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b9eef7b1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b9eef7b1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0258" y="898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Forest Cover Type Classification With Deep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89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neural networks to predict forest cover types from </a:t>
            </a:r>
            <a:r>
              <a:rPr lang="en-GB"/>
              <a:t>environmental</a:t>
            </a:r>
            <a:r>
              <a:rPr lang="en-GB"/>
              <a:t> and geographical features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258525" y="100700"/>
            <a:ext cx="2812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George Chadwick-Jones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Explore the structure and distribution of the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Preprocess the environmental and geographical features for neural network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Compare different neural networks architectures and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the strongest performing models as inspiration for the final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Evaluate how consistently the final model performs across the 7 classes of forest cover type.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581,012 observations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54 predictor variables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7 forest cover classes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Environmental and geographic features including: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Elevation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Slope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Aspect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Distances to hydrology, roads and fire points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Measurements of hillshade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s</a:t>
            </a:r>
            <a:r>
              <a:rPr lang="en-GB" sz="1100"/>
              <a:t>oil-types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Preprocessing:</a:t>
            </a:r>
            <a:endParaRPr b="1"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The dataset had no missing values or duplicate observations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Dataset was split into </a:t>
            </a:r>
            <a:r>
              <a:rPr b="1" lang="en-GB" sz="1100"/>
              <a:t>70%</a:t>
            </a:r>
            <a:r>
              <a:rPr lang="en-GB" sz="1100"/>
              <a:t> training, </a:t>
            </a:r>
            <a:r>
              <a:rPr b="1" lang="en-GB" sz="1100"/>
              <a:t>15%</a:t>
            </a:r>
            <a:r>
              <a:rPr lang="en-GB" sz="1100"/>
              <a:t> validation, </a:t>
            </a:r>
            <a:r>
              <a:rPr b="1" lang="en-GB" sz="1100"/>
              <a:t>15%</a:t>
            </a:r>
            <a:r>
              <a:rPr lang="en-GB" sz="1100"/>
              <a:t> test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Stratified</a:t>
            </a:r>
            <a:r>
              <a:rPr b="1" lang="en-GB" sz="1100"/>
              <a:t> splitting</a:t>
            </a:r>
            <a:r>
              <a:rPr lang="en-GB" sz="1100"/>
              <a:t> was used to maintain the class distributions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Features were standardised using </a:t>
            </a:r>
            <a:r>
              <a:rPr b="1" lang="en-GB" sz="1100"/>
              <a:t>StandardScaler()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and Preprocessing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Development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Five initial neural networks were created to investigate different </a:t>
            </a:r>
            <a:r>
              <a:rPr lang="en-GB" sz="1400"/>
              <a:t>architectures</a:t>
            </a:r>
            <a:r>
              <a:rPr lang="en-GB" sz="1400"/>
              <a:t> and hyperparameters, with the validation data being used to assess the effectiveness of each network.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Common settings:</a:t>
            </a:r>
            <a:endParaRPr b="1" sz="1400"/>
          </a:p>
          <a:p>
            <a:pPr indent="-3175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ReLU activation in hidden layers</a:t>
            </a:r>
            <a:endParaRPr sz="1400"/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Softmax output layer with 7 classes</a:t>
            </a:r>
            <a:endParaRPr sz="1400"/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Adam optimiser</a:t>
            </a:r>
            <a:endParaRPr sz="1400"/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Sparse categorical cross-entropy</a:t>
            </a:r>
            <a:endParaRPr sz="1400"/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Batch size: 128</a:t>
            </a:r>
            <a:endParaRPr sz="1400"/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Early Stopping to reduce overfitting</a:t>
            </a:r>
            <a:endParaRPr sz="1400"/>
          </a:p>
        </p:txBody>
      </p:sp>
      <p:pic>
        <p:nvPicPr>
          <p:cNvPr id="75" name="Google Shape;75;p16" title="841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575" y="3346750"/>
            <a:ext cx="4859425" cy="17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Development – Results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The five initial models produced noticeably different results despite using the same training set.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The strongest </a:t>
            </a:r>
            <a:r>
              <a:rPr lang="en-GB" sz="1300"/>
              <a:t>initial</a:t>
            </a:r>
            <a:r>
              <a:rPr lang="en-GB" sz="1300"/>
              <a:t> model came from increasing the number of hidden units from </a:t>
            </a:r>
            <a:r>
              <a:rPr b="1" lang="en-GB" sz="1300"/>
              <a:t>64</a:t>
            </a:r>
            <a:r>
              <a:rPr lang="en-GB" sz="1300"/>
              <a:t> → </a:t>
            </a:r>
            <a:r>
              <a:rPr b="1" lang="en-GB" sz="1300"/>
              <a:t>32 </a:t>
            </a:r>
            <a:r>
              <a:rPr lang="en-GB" sz="1300"/>
              <a:t>to </a:t>
            </a:r>
            <a:r>
              <a:rPr b="1" lang="en-GB" sz="1300"/>
              <a:t>128 </a:t>
            </a:r>
            <a:r>
              <a:rPr lang="en-GB" sz="1300"/>
              <a:t>→ </a:t>
            </a:r>
            <a:r>
              <a:rPr b="1" lang="en-GB" sz="1300"/>
              <a:t>64. </a:t>
            </a:r>
            <a:r>
              <a:rPr lang="en-GB" sz="1300"/>
              <a:t>This model achieved an </a:t>
            </a:r>
            <a:r>
              <a:rPr lang="en-GB" sz="1300"/>
              <a:t>accuracy</a:t>
            </a:r>
            <a:r>
              <a:rPr lang="en-GB" sz="1300"/>
              <a:t> of</a:t>
            </a:r>
            <a:r>
              <a:rPr b="1" lang="en-GB" sz="1300"/>
              <a:t> 90.74%, </a:t>
            </a:r>
            <a:r>
              <a:rPr lang="en-GB" sz="1300"/>
              <a:t>outperforming the baseline model by</a:t>
            </a:r>
            <a:r>
              <a:rPr b="1" lang="en-GB" sz="1300"/>
              <a:t> 3.63%.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/>
              <a:t>The model with a lower learning rate also performed well, having achieved an accuracy of </a:t>
            </a:r>
            <a:r>
              <a:rPr b="1" lang="en-GB" sz="1300"/>
              <a:t>89.73%, </a:t>
            </a:r>
            <a:r>
              <a:rPr lang="en-GB" sz="1300"/>
              <a:t>making it a useful addition in the final model.</a:t>
            </a:r>
            <a:endParaRPr sz="1300"/>
          </a:p>
        </p:txBody>
      </p:sp>
      <p:pic>
        <p:nvPicPr>
          <p:cNvPr id="82" name="Google Shape;82;p17" title="744546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775" y="2652725"/>
            <a:ext cx="5604224" cy="24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Developing the Final Model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The results from the initial models were used to identify changes that could potentially improve the performance of the neural network.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Building on model 2: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Model 2</a:t>
            </a:r>
            <a:r>
              <a:rPr lang="en-GB" sz="1200"/>
              <a:t> achieved the highest initial accuracy, so the number of hidden units were increased further from </a:t>
            </a:r>
            <a:r>
              <a:rPr b="1" lang="en-GB" sz="1200"/>
              <a:t>128 → 64</a:t>
            </a:r>
            <a:r>
              <a:rPr lang="en-GB" sz="1200"/>
              <a:t> to </a:t>
            </a:r>
            <a:r>
              <a:rPr b="1" lang="en-GB" sz="1200"/>
              <a:t>256 → 128. 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Model 5</a:t>
            </a:r>
            <a:r>
              <a:rPr lang="en-GB" sz="1200"/>
              <a:t> had a lower learning rate than the other models at </a:t>
            </a:r>
            <a:r>
              <a:rPr b="1" lang="en-GB" sz="1200"/>
              <a:t>LR = 0.0005 </a:t>
            </a:r>
            <a:r>
              <a:rPr lang="en-GB" sz="1200"/>
              <a:t>and it achieved the second-highest accuracy, so it’s learning rate was adopted for the final model.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The maximum epochs for the final model were increased from </a:t>
            </a:r>
            <a:r>
              <a:rPr b="1" lang="en-GB" sz="1200"/>
              <a:t>50</a:t>
            </a:r>
            <a:r>
              <a:rPr lang="en-GB" sz="1200"/>
              <a:t> to </a:t>
            </a:r>
            <a:r>
              <a:rPr b="1" lang="en-GB" sz="1200"/>
              <a:t>100, </a:t>
            </a:r>
            <a:r>
              <a:rPr lang="en-GB" sz="1200"/>
              <a:t>giving the larger network coupled with the lower learning rate of the final model more time to optimise. </a:t>
            </a:r>
            <a:r>
              <a:rPr b="1" lang="en-GB" sz="1200"/>
              <a:t>Model 5</a:t>
            </a:r>
            <a:r>
              <a:rPr lang="en-GB" sz="1200"/>
              <a:t>, trained for </a:t>
            </a:r>
            <a:r>
              <a:rPr b="1" lang="en-GB" sz="1200"/>
              <a:t>49</a:t>
            </a:r>
            <a:r>
              <a:rPr lang="en-GB" sz="1200"/>
              <a:t> out of the available </a:t>
            </a:r>
            <a:r>
              <a:rPr b="1" lang="en-GB" sz="1200"/>
              <a:t>50</a:t>
            </a:r>
            <a:r>
              <a:rPr lang="en-GB" sz="1200"/>
              <a:t> epochs, suggesting that the lower learning rate could benefit from a longer training window. 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Model Performance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The final model was trained using an </a:t>
            </a:r>
            <a:r>
              <a:rPr lang="en-GB" sz="1300"/>
              <a:t>increased</a:t>
            </a:r>
            <a:r>
              <a:rPr lang="en-GB" sz="1300"/>
              <a:t> network capacity, lower learning rate and an increase number of epochs.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Final results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93.09%</a:t>
            </a:r>
            <a:r>
              <a:rPr lang="en-GB" sz="1300"/>
              <a:t> test accuracy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0.1817% </a:t>
            </a:r>
            <a:r>
              <a:rPr lang="en-GB" sz="1300"/>
              <a:t>test loss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/>
              <a:t>The model achieved an additional  2.35 percent points in accuracy</a:t>
            </a:r>
            <a:endParaRPr sz="1300"/>
          </a:p>
        </p:txBody>
      </p:sp>
      <p:pic>
        <p:nvPicPr>
          <p:cNvPr id="95" name="Google Shape;95;p19" title="7:8946513.png"/>
          <p:cNvPicPr preferRelativeResize="0"/>
          <p:nvPr/>
        </p:nvPicPr>
        <p:blipFill rotWithShape="1">
          <a:blip r:embed="rId3">
            <a:alphaModFix/>
          </a:blip>
          <a:srcRect b="12646" l="5207" r="5626" t="8706"/>
          <a:stretch/>
        </p:blipFill>
        <p:spPr>
          <a:xfrm>
            <a:off x="3053700" y="3219800"/>
            <a:ext cx="6090299" cy="19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 Level Performance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The final model was evaluated across each forest cover class using </a:t>
            </a:r>
            <a:r>
              <a:rPr b="1" lang="en-GB" sz="1200"/>
              <a:t>precision</a:t>
            </a:r>
            <a:r>
              <a:rPr lang="en-GB" sz="1200"/>
              <a:t>, </a:t>
            </a:r>
            <a:r>
              <a:rPr b="1" lang="en-GB" sz="1200"/>
              <a:t>recall</a:t>
            </a:r>
            <a:r>
              <a:rPr lang="en-GB" sz="1200"/>
              <a:t> and </a:t>
            </a:r>
            <a:r>
              <a:rPr b="1" lang="en-GB" sz="1200"/>
              <a:t>f1 score</a:t>
            </a:r>
            <a:r>
              <a:rPr lang="en-GB" sz="1200"/>
              <a:t>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Performance was strongest for the majority classes in the dataset, paritularly classes 1 and 2.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The minority classes were more difficult for the model to classify accurately, as there is less data for the model to learn.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/>
              <a:t>Class 5 had the lowest recall score at 76%</a:t>
            </a:r>
            <a:r>
              <a:rPr lang="en-GB" sz="1200"/>
              <a:t> </a:t>
            </a:r>
            <a:endParaRPr sz="1200"/>
          </a:p>
        </p:txBody>
      </p:sp>
      <p:pic>
        <p:nvPicPr>
          <p:cNvPr id="102" name="Google Shape;102;p20" title="774851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425" y="2525901"/>
            <a:ext cx="6082575" cy="26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 and Limitations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Findings</a:t>
            </a:r>
            <a:endParaRPr b="1"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initial experiments showed that increasing the number of hidden units and decreasing the learning rate produced the strongest model performances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final model achieved an accuracy of </a:t>
            </a:r>
            <a:r>
              <a:rPr b="1" lang="en-GB"/>
              <a:t>93.09%</a:t>
            </a:r>
            <a:r>
              <a:rPr lang="en-GB"/>
              <a:t>, improving on </a:t>
            </a:r>
            <a:r>
              <a:rPr b="1" lang="en-GB"/>
              <a:t>model 2</a:t>
            </a:r>
            <a:r>
              <a:rPr lang="en-GB"/>
              <a:t>’s accuracy of </a:t>
            </a:r>
            <a:r>
              <a:rPr b="1" lang="en-GB"/>
              <a:t>90.74%.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final model achieved a strong performance across the majority of </a:t>
            </a:r>
            <a:r>
              <a:rPr lang="en-GB"/>
              <a:t>forest</a:t>
            </a:r>
            <a:r>
              <a:rPr lang="en-GB"/>
              <a:t> cover classes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lowest performance was found in the minority classes due to a lack of information seen by the neural network, in particular </a:t>
            </a:r>
            <a:r>
              <a:rPr b="1" lang="en-GB"/>
              <a:t>model 5.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Limitations </a:t>
            </a:r>
            <a:endParaRPr b="1"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dataset contains a substantial class imbalance, which may bias the model towards the majority classes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Future iterations of the model could investigate </a:t>
            </a:r>
            <a:r>
              <a:rPr b="1" lang="en-GB"/>
              <a:t>class weighting</a:t>
            </a:r>
            <a:r>
              <a:rPr lang="en-GB"/>
              <a:t> or </a:t>
            </a:r>
            <a:r>
              <a:rPr b="1" lang="en-GB"/>
              <a:t>oversampling</a:t>
            </a:r>
            <a:r>
              <a:rPr lang="en-GB"/>
              <a:t> to improve the </a:t>
            </a:r>
            <a:r>
              <a:rPr lang="en-GB"/>
              <a:t>performance</a:t>
            </a:r>
            <a:r>
              <a:rPr lang="en-GB"/>
              <a:t> of the minority classes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